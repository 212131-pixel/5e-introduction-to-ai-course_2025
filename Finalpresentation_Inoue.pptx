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3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DF4C6-005A-02EC-00AD-17DF5184C2AB}" v="148" dt="2026-02-02T02:15:53.061"/>
    <p1510:client id="{9A009EAC-9B23-4133-BF8D-225369D7E025}" v="53" dt="2026-02-02T02:29:54.4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C282E9-229D-E1A2-6FB2-5AE4252C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72B86FC-69DD-5DC1-B0F3-79862074F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6EDCBC-5C14-3066-6E7C-3D450C2A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5903BD-F404-3B56-9567-E2857FEA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3C25E3-F120-5C4B-0FFD-3258FCDF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43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B5A515-451A-C8DB-87FA-48D2E8DA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624CEB-A01A-7EE4-A9FD-B6A834A78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8792AA-77F1-2502-D5B4-5BB5FF42E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BEFB1E-3015-BBF9-E25C-95EB7E32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2B6C43-C537-2D06-B2B6-F6199756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79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087B3D-2515-09CD-C093-5583236D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FC4877-DBF3-0FE2-1E24-EDCDAA0D2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9CA03D-6318-891C-95F6-F1F3983EB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754659-9E36-2622-D8D3-E2F13BB17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B097D7-49B0-B5A2-C102-F3262FD1A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885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8BC0E2-CA0C-1B94-AD4C-69833E75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FC1C9F-DEE2-DC28-F6A2-D7FF2E5EB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A86F9C-4283-7FBB-8230-DFB01AAC3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269862-F388-D20B-51AB-29709566D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96D178-D0CA-F5CD-BA35-22D4F954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2B9EE1-6AA2-886E-446F-84610D2A0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98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F49DA6-D651-DB47-3D5B-6647A6AE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B827D5-8028-AE5C-AF84-E5ABA0190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3143C9-F6EE-9E07-7A40-C949A9411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956E44-B428-80D9-C425-D5393A04B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DD68CC7-5FC8-6C06-C91A-6F17C8BB0F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9723354-1CC1-A2B8-3392-9413A7FA4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C1CB0FD-518D-E045-CE7C-82230399D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9030957-4EDE-FAE6-FD38-B956C9A6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5143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B1EACF-956D-E210-87ED-2A93A6B4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2A18D9-5570-00D8-656E-B7944E87C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CD7FFB5-6C24-7F25-3573-B805F4EB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E34DD89-506F-52C5-33B5-EEF9F74F4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98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D22CA9A-FCC3-3CBE-32B4-CCD5A212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D6E8FC-702E-7C76-086A-2AAE3A54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3D3B9A-41D4-8F8D-7780-76EEE11E1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52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EE662E-20A1-A38E-189C-3A06420E9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0B4E67-12E0-1411-2402-EF41BDD5F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95823C-05EA-256C-D724-6CCEB2BD7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F47D25-C0D1-876C-3714-5953CC62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4CADD2-06C6-E879-9FB7-8597BAE6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E149D0-D0C3-08EC-5D36-94963CA87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908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3B6406-E7F3-07CC-B7B1-1993E7AE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A3B9E6A-1C6D-4BA5-93E9-00F8D7C24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40D412-4A7E-BE6B-2A06-44A1C6FB2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84BDCE-D10F-C777-582F-EF67B4432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D839C2-6B2C-B952-83BC-E59A1E335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CBD195-B871-1B17-C9CC-B709D825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080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81DF4A-FDE7-C70C-0B06-848077E9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9694DB-A73C-9BA1-883F-3D8B669C4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C699FE-F581-AA4F-C692-0AA57449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07379E-1B03-0B87-D9E2-E65A84AA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051BBE-FE5B-842E-F8E4-839D413C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492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76DB944-5C64-DF3A-82C0-E5BF191D1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878A5D8-05A1-00D6-8DC8-2FFD54805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A5C5E3-FC64-CF9F-CEB4-BC0E2D15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10D00B-7FED-7652-5B82-DDE6C679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C736F9-A63A-B3CD-E4CF-6888918C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8660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E7E928-14A6-DEA4-FAB6-D7408FA3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C0F543-11ED-A1DF-2851-7E6A0926B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0C2088-62A9-235B-06D8-51EF6EB28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38261-1ECF-4AFC-B0DF-E322DA5913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9F5B78-FB56-48A4-ACE8-A00CDF763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6AB901-B9E8-7785-DF0E-1217ADF05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5F0A7-EA73-4A1D-9CCE-55CA1F3E92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790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E044B9-2EF7-DEB1-6C47-C578BD5AEC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4400" b="1" dirty="0">
                <a:ea typeface="+mj-lt"/>
                <a:cs typeface="+mj-lt"/>
              </a:rPr>
              <a:t>実測定データからの</a:t>
            </a:r>
            <a:r>
              <a:rPr lang="en-US" altLang="ja-JP" sz="4400" b="1" dirty="0">
                <a:ea typeface="+mj-lt"/>
                <a:cs typeface="+mj-lt"/>
              </a:rPr>
              <a:t>FET</a:t>
            </a:r>
            <a:r>
              <a:rPr lang="ja-JP" altLang="en-US" sz="4400" b="1" dirty="0">
                <a:ea typeface="+mj-lt"/>
                <a:cs typeface="+mj-lt"/>
              </a:rPr>
              <a:t>特性予測</a:t>
            </a:r>
            <a:br>
              <a:rPr lang="ja-JP" altLang="en-US" sz="2400" b="1" dirty="0">
                <a:ea typeface="+mj-lt"/>
              </a:rPr>
            </a:br>
            <a:r>
              <a:rPr lang="ja-JP" sz="2400" b="1" dirty="0">
                <a:ea typeface="+mj-lt"/>
                <a:cs typeface="+mj-lt"/>
              </a:rPr>
              <a:t>FET characteristics prediction from actual measurement data</a:t>
            </a:r>
            <a:endParaRPr lang="ja-JP" altLang="en-US" sz="2400" b="1" dirty="0">
              <a:ea typeface="+mj-lt"/>
              <a:cs typeface="+mj-lt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F8B969-A760-E42D-8D4F-14804E3DD8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游ゴシック"/>
              </a:rPr>
              <a:t>Inoue Torasuke</a:t>
            </a:r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08365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4BA1EA-6580-A8E6-CCE5-DD218B39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ea typeface="游ゴシック Light"/>
              </a:rPr>
              <a:t>背景(Background)</a:t>
            </a:r>
            <a:endParaRPr lang="ja-JP" altLang="en-US" b="1" dirty="0"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70CEAC-6799-7514-DB54-83FAC8F08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kumimoji="1" lang="ja-JP" altLang="en-US" sz="4000" dirty="0">
                <a:ea typeface="游ゴシック"/>
              </a:rPr>
              <a:t>既存の</a:t>
            </a:r>
            <a:r>
              <a:rPr kumimoji="1" lang="en-US" altLang="ja-JP" sz="4000" dirty="0">
                <a:ea typeface="游ゴシック"/>
              </a:rPr>
              <a:t>FET</a:t>
            </a:r>
            <a:r>
              <a:rPr kumimoji="1" lang="ja-JP" altLang="en-US" sz="4000" dirty="0">
                <a:ea typeface="游ゴシック"/>
              </a:rPr>
              <a:t>測定データには測定していないゲート長や</a:t>
            </a:r>
            <a:r>
              <a:rPr lang="en-US" altLang="ja-JP" sz="4000" i="1" dirty="0">
                <a:ea typeface="游ゴシック"/>
              </a:rPr>
              <a:t>V</a:t>
            </a:r>
            <a:r>
              <a:rPr lang="en-US" altLang="ja-JP" sz="4000" baseline="-25000" dirty="0">
                <a:ea typeface="游ゴシック"/>
              </a:rPr>
              <a:t>G</a:t>
            </a:r>
            <a:r>
              <a:rPr kumimoji="1" lang="ja-JP" altLang="en-US" sz="4000" dirty="0">
                <a:ea typeface="游ゴシック"/>
              </a:rPr>
              <a:t>を</a:t>
            </a:r>
            <a:r>
              <a:rPr lang="ja-JP" altLang="en-US" sz="4000" dirty="0">
                <a:ea typeface="游ゴシック"/>
              </a:rPr>
              <a:t>負</a:t>
            </a:r>
            <a:r>
              <a:rPr kumimoji="1" lang="ja-JP" altLang="en-US" sz="4000" dirty="0">
                <a:ea typeface="游ゴシック"/>
              </a:rPr>
              <a:t>にしたデータが存在していない</a:t>
            </a:r>
          </a:p>
          <a:p>
            <a:pPr marL="0" indent="0">
              <a:buNone/>
            </a:pPr>
            <a:r>
              <a:rPr lang="ja-JP" altLang="en-US" sz="3200" dirty="0">
                <a:ea typeface="游ゴシック"/>
              </a:rPr>
              <a:t>(</a:t>
            </a:r>
            <a:r>
              <a:rPr lang="ja-JP" sz="3200" dirty="0">
                <a:ea typeface="+mn-lt"/>
                <a:cs typeface="+mn-lt"/>
              </a:rPr>
              <a:t>Existing FET measurement data does not include data on gate lengths that were not measured or on negative </a:t>
            </a:r>
            <a:r>
              <a:rPr lang="ja-JP" sz="3200" i="1" dirty="0">
                <a:ea typeface="+mn-lt"/>
                <a:cs typeface="+mn-lt"/>
              </a:rPr>
              <a:t>V</a:t>
            </a:r>
            <a:r>
              <a:rPr lang="en-US" altLang="ja-JP" sz="3200" baseline="-25000" dirty="0">
                <a:ea typeface="+mn-lt"/>
                <a:cs typeface="+mn-lt"/>
              </a:rPr>
              <a:t>G</a:t>
            </a:r>
            <a:r>
              <a:rPr lang="ja-JP" sz="3200" dirty="0">
                <a:ea typeface="+mn-lt"/>
                <a:cs typeface="+mn-lt"/>
              </a:rPr>
              <a:t>.</a:t>
            </a:r>
            <a:r>
              <a:rPr lang="ja-JP" altLang="en-US" sz="3200" dirty="0">
                <a:ea typeface="游ゴシック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5319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F1695-16C5-690F-C20F-25974E3C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>
                <a:ea typeface="游ゴシック Light"/>
              </a:rPr>
              <a:t>目的</a:t>
            </a:r>
            <a:r>
              <a:rPr lang="ja-JP" altLang="en-US" b="1">
                <a:ea typeface="游ゴシック Light"/>
              </a:rPr>
              <a:t>(objective)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920CE1-7B96-D270-7DD7-FF741E596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kumimoji="1" lang="en-US" altLang="ja-JP" sz="4000" dirty="0"/>
              <a:t>FET</a:t>
            </a:r>
            <a:r>
              <a:rPr kumimoji="1" lang="ja-JP" altLang="en-US" sz="4000" dirty="0"/>
              <a:t>の</a:t>
            </a:r>
            <a:r>
              <a:rPr kumimoji="1" lang="en-US" altLang="ja-JP" sz="4000" dirty="0"/>
              <a:t>I</a:t>
            </a:r>
            <a:r>
              <a:rPr kumimoji="1" lang="en-US" altLang="ja-JP" sz="4000" baseline="-25000" dirty="0"/>
              <a:t>D</a:t>
            </a:r>
            <a:r>
              <a:rPr kumimoji="1" lang="en-US" altLang="ja-JP" sz="4000" dirty="0"/>
              <a:t>-V</a:t>
            </a:r>
            <a:r>
              <a:rPr kumimoji="1" lang="en-US" altLang="ja-JP" sz="4000" baseline="-25000" dirty="0"/>
              <a:t>D</a:t>
            </a:r>
            <a:r>
              <a:rPr kumimoji="1" lang="ja-JP" altLang="en-US" sz="4000" dirty="0"/>
              <a:t>特性のゲート長による変化と</a:t>
            </a:r>
            <a:r>
              <a:rPr kumimoji="1" lang="en-US" altLang="ja-JP" sz="4000" dirty="0"/>
              <a:t>V</a:t>
            </a:r>
            <a:r>
              <a:rPr kumimoji="1" lang="en-US" altLang="ja-JP" sz="4000" baseline="-25000" dirty="0"/>
              <a:t>G</a:t>
            </a:r>
            <a:r>
              <a:rPr kumimoji="1" lang="ja-JP" altLang="en-US" sz="4000" dirty="0"/>
              <a:t>を負にした際の変化を予測する</a:t>
            </a:r>
            <a:endParaRPr lang="ja-JP" altLang="en-US" baseline="-25000" dirty="0"/>
          </a:p>
          <a:p>
            <a:pPr marL="0" indent="0">
              <a:buNone/>
            </a:pPr>
            <a:r>
              <a:rPr lang="ja-JP" altLang="en-US" sz="3200" dirty="0">
                <a:ea typeface="游ゴシック"/>
              </a:rPr>
              <a:t>(</a:t>
            </a:r>
            <a:r>
              <a:rPr lang="ja-JP" sz="3200" dirty="0">
                <a:ea typeface="+mn-lt"/>
                <a:cs typeface="+mn-lt"/>
              </a:rPr>
              <a:t>Predicting the change in FET </a:t>
            </a:r>
            <a:r>
              <a:rPr lang="ja-JP" sz="3200" i="1" dirty="0">
                <a:ea typeface="+mn-lt"/>
                <a:cs typeface="+mn-lt"/>
              </a:rPr>
              <a:t>I</a:t>
            </a:r>
            <a:r>
              <a:rPr lang="ja-JP" sz="3200" baseline="-25000" dirty="0">
                <a:ea typeface="+mn-lt"/>
                <a:cs typeface="+mn-lt"/>
              </a:rPr>
              <a:t>D</a:t>
            </a:r>
            <a:r>
              <a:rPr lang="ja-JP" sz="3200" dirty="0">
                <a:ea typeface="+mn-lt"/>
                <a:cs typeface="+mn-lt"/>
              </a:rPr>
              <a:t>-</a:t>
            </a:r>
            <a:r>
              <a:rPr lang="ja-JP" sz="3200" i="1" dirty="0">
                <a:ea typeface="+mn-lt"/>
                <a:cs typeface="+mn-lt"/>
              </a:rPr>
              <a:t>V</a:t>
            </a:r>
            <a:r>
              <a:rPr lang="ja-JP" sz="3200" baseline="-25000" dirty="0">
                <a:ea typeface="+mn-lt"/>
                <a:cs typeface="+mn-lt"/>
              </a:rPr>
              <a:t>D</a:t>
            </a:r>
            <a:r>
              <a:rPr lang="ja-JP" sz="3200" dirty="0">
                <a:ea typeface="+mn-lt"/>
                <a:cs typeface="+mn-lt"/>
              </a:rPr>
              <a:t> characteristics due to gate length and when </a:t>
            </a:r>
            <a:r>
              <a:rPr lang="ja-JP" sz="3200" i="1" dirty="0">
                <a:ea typeface="+mn-lt"/>
                <a:cs typeface="+mn-lt"/>
              </a:rPr>
              <a:t>V</a:t>
            </a:r>
            <a:r>
              <a:rPr lang="ja-JP" sz="3200" baseline="-25000" dirty="0">
                <a:ea typeface="+mn-lt"/>
                <a:cs typeface="+mn-lt"/>
              </a:rPr>
              <a:t>G</a:t>
            </a:r>
            <a:r>
              <a:rPr lang="ja-JP" sz="3200" dirty="0">
                <a:ea typeface="+mn-lt"/>
                <a:cs typeface="+mn-lt"/>
              </a:rPr>
              <a:t> is made negative</a:t>
            </a:r>
            <a:r>
              <a:rPr lang="ja-JP" altLang="en-US" sz="3200" dirty="0">
                <a:ea typeface="游ゴシック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3347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9A9860-C378-9AAD-8964-2CEC5869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>
                <a:ea typeface="游ゴシック Light"/>
              </a:rPr>
              <a:t>手法</a:t>
            </a:r>
            <a:r>
              <a:rPr lang="ja-JP" altLang="en-US" b="1">
                <a:ea typeface="游ゴシック Light"/>
              </a:rPr>
              <a:t>(method)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9D4665-2254-2B24-C41E-13862E5CB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kumimoji="1" lang="en-US" altLang="ja-JP" sz="4000" dirty="0"/>
              <a:t>Gemini</a:t>
            </a:r>
            <a:r>
              <a:rPr kumimoji="1" lang="ja-JP" altLang="en-US" sz="4000" dirty="0"/>
              <a:t>を用いて重回帰分析のコードを作成し、測定データのコードを入力</a:t>
            </a:r>
            <a:endParaRPr kumimoji="1" lang="en-US" altLang="ja-JP" sz="4000" dirty="0"/>
          </a:p>
          <a:p>
            <a:pPr marL="0" indent="0">
              <a:buNone/>
            </a:pPr>
            <a:r>
              <a:rPr kumimoji="1" lang="ja-JP" altLang="en-US" sz="4000" dirty="0">
                <a:ea typeface="游ゴシック"/>
              </a:rPr>
              <a:t>実際のデータと比較を行う</a:t>
            </a:r>
          </a:p>
          <a:p>
            <a:pPr marL="0" indent="0">
              <a:buNone/>
            </a:pPr>
            <a:r>
              <a:rPr lang="ja-JP" altLang="en-US" sz="3200" dirty="0">
                <a:ea typeface="游ゴシック"/>
              </a:rPr>
              <a:t>(</a:t>
            </a:r>
            <a:r>
              <a:rPr lang="ja-JP" sz="3200" dirty="0">
                <a:ea typeface="+mn-lt"/>
                <a:cs typeface="+mn-lt"/>
              </a:rPr>
              <a:t>Create a multiple regression analysis code using Gemini and input the measurement data code.</a:t>
            </a:r>
            <a:endParaRPr lang="ja-JP" altLang="en-US" sz="3200" dirty="0">
              <a:ea typeface="游ゴシック"/>
            </a:endParaRPr>
          </a:p>
          <a:p>
            <a:pPr marL="0" indent="0">
              <a:buNone/>
            </a:pPr>
            <a:r>
              <a:rPr lang="ja-JP" sz="3200" dirty="0">
                <a:ea typeface="+mn-lt"/>
                <a:cs typeface="+mn-lt"/>
              </a:rPr>
              <a:t>Compare with actual data.</a:t>
            </a:r>
            <a:r>
              <a:rPr lang="ja-JP" altLang="en-US" sz="3200" dirty="0">
                <a:ea typeface="游ゴシック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11212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8082C0-4774-C567-DB49-0C21688CD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>
                <a:ea typeface="游ゴシック Light"/>
              </a:rPr>
              <a:t>結果</a:t>
            </a:r>
            <a:r>
              <a:rPr lang="ja-JP" altLang="en-US" b="1">
                <a:ea typeface="游ゴシック Light"/>
              </a:rPr>
              <a:t>(results)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92196F-8151-EFD5-AA53-94913B707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08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kumimoji="1" lang="ja-JP" altLang="en-US" sz="4000" dirty="0">
                <a:ea typeface="游ゴシック"/>
              </a:rPr>
              <a:t>実際のデータと大きく変わらないように見える</a:t>
            </a:r>
            <a:endParaRPr lang="ja-JP" altLang="en-US" sz="4000" dirty="0">
              <a:ea typeface="游ゴシック" panose="020B0400000000000000" pitchFamily="34" charset="-128"/>
            </a:endParaRPr>
          </a:p>
          <a:p>
            <a:pPr marL="0" indent="0">
              <a:buNone/>
            </a:pPr>
            <a:r>
              <a:rPr lang="ja-JP" altLang="en-US" sz="3200" dirty="0">
                <a:ea typeface="游ゴシック"/>
              </a:rPr>
              <a:t>(</a:t>
            </a:r>
            <a:r>
              <a:rPr lang="ja-JP" sz="3200" dirty="0">
                <a:ea typeface="+mn-lt"/>
                <a:cs typeface="+mn-lt"/>
              </a:rPr>
              <a:t>The data displayed in a three-dimensional graph appears to be almost identical.</a:t>
            </a:r>
            <a:r>
              <a:rPr lang="ja-JP" altLang="en-US" sz="3200" dirty="0">
                <a:ea typeface="游ゴシック"/>
              </a:rPr>
              <a:t>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84F99BA-32B4-AA8E-E2E1-957FA4475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910" y="3741168"/>
            <a:ext cx="6522155" cy="311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0218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16F87-C720-35F0-8097-F52729A31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FA1E8D-4113-C65E-5491-90686B98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>
                <a:ea typeface="游ゴシック Light"/>
              </a:rPr>
              <a:t>結果</a:t>
            </a:r>
            <a:r>
              <a:rPr lang="ja-JP" b="1">
                <a:ea typeface="游ゴシック Light"/>
              </a:rPr>
              <a:t>(results)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37B649-622D-12E4-4D11-325A92809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604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kumimoji="1" lang="ja-JP" altLang="en-US" sz="4000" dirty="0">
                <a:ea typeface="游ゴシック"/>
              </a:rPr>
              <a:t>実際のデータから見るとかなり誤差が大きい</a:t>
            </a:r>
            <a:endParaRPr lang="ja-JP" altLang="en-US" sz="4000" dirty="0">
              <a:ea typeface="游ゴシック"/>
            </a:endParaRPr>
          </a:p>
          <a:p>
            <a:pPr marL="0" indent="0">
              <a:buNone/>
            </a:pPr>
            <a:r>
              <a:rPr lang="en-US" altLang="ja-JP" sz="3200" dirty="0">
                <a:ea typeface="+mn-lt"/>
                <a:cs typeface="+mn-lt"/>
              </a:rPr>
              <a:t>(However, when the gate length is fixed and the ID-VD graph is viewed, it is clear that the error is large.)</a:t>
            </a:r>
            <a:endParaRPr lang="ja-JP" altLang="en-US" sz="3200" dirty="0">
              <a:ea typeface="游ゴシック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922F853-52D6-C12E-31FB-F99A6570E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260" y="3079141"/>
            <a:ext cx="5116166" cy="356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08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D6A85-7815-27D8-057E-4CD43AD83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E8D583-3204-D8E1-ED72-A1E66A16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>
                <a:ea typeface="游ゴシック Light"/>
              </a:rPr>
              <a:t>結果</a:t>
            </a:r>
            <a:r>
              <a:rPr lang="ja-JP" altLang="en-US" b="1">
                <a:ea typeface="游ゴシック Light"/>
              </a:rPr>
              <a:t>(results)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A07A60-F7AC-6A93-D9D8-9DAAFA97F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57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kumimoji="1" lang="en-US" altLang="ja-JP" sz="4000" dirty="0">
                <a:ea typeface="游ゴシック"/>
              </a:rPr>
              <a:t>V</a:t>
            </a:r>
            <a:r>
              <a:rPr kumimoji="1" lang="en-US" altLang="ja-JP" sz="4000" baseline="-25000" dirty="0">
                <a:ea typeface="游ゴシック"/>
              </a:rPr>
              <a:t>G</a:t>
            </a:r>
            <a:r>
              <a:rPr kumimoji="1" lang="ja-JP" altLang="en-US" sz="4000" dirty="0">
                <a:ea typeface="游ゴシック"/>
              </a:rPr>
              <a:t>が負の時</a:t>
            </a:r>
            <a:r>
              <a:rPr kumimoji="1" lang="en-US" altLang="ja-JP" sz="4000" dirty="0">
                <a:ea typeface="游ゴシック"/>
              </a:rPr>
              <a:t>V</a:t>
            </a:r>
            <a:r>
              <a:rPr kumimoji="1" lang="en-US" altLang="ja-JP" sz="4000" baseline="-25000" dirty="0">
                <a:ea typeface="游ゴシック"/>
              </a:rPr>
              <a:t>D</a:t>
            </a:r>
            <a:r>
              <a:rPr kumimoji="1" lang="ja-JP" altLang="en-US" sz="4000" dirty="0">
                <a:ea typeface="游ゴシック"/>
              </a:rPr>
              <a:t>＝</a:t>
            </a:r>
            <a:r>
              <a:rPr kumimoji="1" lang="en-US" altLang="ja-JP" sz="4000" dirty="0">
                <a:ea typeface="游ゴシック"/>
              </a:rPr>
              <a:t>0</a:t>
            </a:r>
            <a:r>
              <a:rPr kumimoji="1" lang="ja-JP" altLang="en-US" sz="4000" dirty="0">
                <a:ea typeface="游ゴシック"/>
              </a:rPr>
              <a:t>なら電流も</a:t>
            </a:r>
            <a:r>
              <a:rPr kumimoji="1" lang="en-US" altLang="ja-JP" sz="4000" dirty="0">
                <a:ea typeface="游ゴシック"/>
              </a:rPr>
              <a:t>0</a:t>
            </a:r>
            <a:r>
              <a:rPr kumimoji="1" lang="ja-JP" altLang="en-US" sz="4000" dirty="0">
                <a:ea typeface="游ゴシック"/>
              </a:rPr>
              <a:t>になるが予測は負を示している</a:t>
            </a:r>
            <a:br>
              <a:rPr kumimoji="1" lang="en-US" altLang="ja-JP" sz="4000" dirty="0"/>
            </a:br>
            <a:r>
              <a:rPr lang="ja-JP" altLang="en-US" sz="3200" dirty="0">
                <a:ea typeface="游ゴシック"/>
              </a:rPr>
              <a:t>(</a:t>
            </a:r>
            <a:r>
              <a:rPr lang="ja-JP" sz="3200" dirty="0">
                <a:ea typeface="+mn-lt"/>
                <a:cs typeface="+mn-lt"/>
              </a:rPr>
              <a:t>Also, even when VG is negative, if VD = 0, the current will also be 0, but the prediction shows a negative value.</a:t>
            </a:r>
            <a:r>
              <a:rPr lang="ja-JP" altLang="en-US" sz="3200" dirty="0">
                <a:ea typeface="游ゴシック"/>
              </a:rPr>
              <a:t>)</a:t>
            </a:r>
            <a:endParaRPr kumimoji="1" lang="en-US" altLang="ja-JP" sz="4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1E2180-A5CD-FE06-010E-C75B37DE7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433" y="3339052"/>
            <a:ext cx="5257800" cy="340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632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B5579-6B7F-88C9-B166-81238F17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>
                <a:ea typeface="游ゴシック Light"/>
              </a:rPr>
              <a:t>考察</a:t>
            </a:r>
            <a:r>
              <a:rPr lang="ja-JP" altLang="en-US" b="1">
                <a:ea typeface="游ゴシック Light"/>
              </a:rPr>
              <a:t>(</a:t>
            </a:r>
            <a:r>
              <a:rPr lang="ja-JP">
                <a:ea typeface="+mj-lt"/>
                <a:cs typeface="+mj-lt"/>
              </a:rPr>
              <a:t>Considerations</a:t>
            </a:r>
            <a:r>
              <a:rPr lang="ja-JP" altLang="en-US" b="1">
                <a:ea typeface="游ゴシック Light"/>
              </a:rPr>
              <a:t>)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D79651-1CC3-51B2-AA3E-C7D7BDE90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515"/>
            <a:ext cx="10515600" cy="50947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kumimoji="1" lang="ja-JP" altLang="en-US" sz="4000" dirty="0"/>
              <a:t>一つのゲート長につき一つのデータしかないため学習データが足りていない</a:t>
            </a:r>
            <a:endParaRPr kumimoji="1" lang="en-US" altLang="ja-JP" sz="4000" dirty="0"/>
          </a:p>
          <a:p>
            <a:pPr marL="0" indent="0">
              <a:buNone/>
            </a:pPr>
            <a:r>
              <a:rPr lang="ja-JP" altLang="en-US" sz="3200" dirty="0">
                <a:ea typeface="游ゴシック"/>
              </a:rPr>
              <a:t>(</a:t>
            </a:r>
            <a:r>
              <a:rPr lang="ja-JP" sz="3200" dirty="0">
                <a:ea typeface="+mn-lt"/>
                <a:cs typeface="+mn-lt"/>
              </a:rPr>
              <a:t>There is only one data set per gate length, so there is not enough training data.</a:t>
            </a:r>
            <a:r>
              <a:rPr lang="ja-JP" altLang="en-US" sz="3200" dirty="0">
                <a:ea typeface="游ゴシック"/>
              </a:rPr>
              <a:t>)</a:t>
            </a:r>
          </a:p>
          <a:p>
            <a:pPr marL="0" indent="0">
              <a:buNone/>
            </a:pPr>
            <a:r>
              <a:rPr lang="ja-JP" altLang="en-US" sz="4000" dirty="0">
                <a:ea typeface="游ゴシック"/>
              </a:rPr>
              <a:t>→大まかな傾向しかわからなかった可能性がある</a:t>
            </a:r>
          </a:p>
          <a:p>
            <a:pPr marL="0" indent="0">
              <a:buNone/>
            </a:pPr>
            <a:r>
              <a:rPr lang="ja-JP" altLang="en-US" sz="3200" dirty="0">
                <a:ea typeface="游ゴシック"/>
              </a:rPr>
              <a:t>(</a:t>
            </a:r>
            <a:r>
              <a:rPr lang="ja-JP" sz="3200" dirty="0">
                <a:ea typeface="+mn-lt"/>
                <a:cs typeface="+mn-lt"/>
              </a:rPr>
              <a:t>As a result, it is possible that only a rough trend was identified.</a:t>
            </a:r>
            <a:r>
              <a:rPr lang="ja-JP" altLang="en-US" sz="3200" dirty="0">
                <a:ea typeface="游ゴシック"/>
              </a:rPr>
              <a:t>)</a:t>
            </a:r>
            <a:endParaRPr lang="ja-JP" sz="2000" dirty="0"/>
          </a:p>
          <a:p>
            <a:pPr marL="0" indent="0">
              <a:buNone/>
            </a:pPr>
            <a:endParaRPr lang="ja-JP" altLang="en-US" sz="4000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68397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6B18D7-5677-0486-3878-8CBFA849F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>
                <a:ea typeface="游ゴシック Light"/>
              </a:rPr>
              <a:t>結論</a:t>
            </a:r>
            <a:r>
              <a:rPr lang="ja-JP" altLang="en-US" b="1">
                <a:ea typeface="游ゴシック Light"/>
              </a:rPr>
              <a:t>(conclusion)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0CB9CF-1179-1806-27BB-5DE930CEE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566"/>
            <a:ext cx="10515600" cy="52434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kumimoji="1" lang="ja-JP" altLang="en-US" sz="4000" dirty="0"/>
              <a:t>データの不足が主たる原因</a:t>
            </a:r>
            <a:endParaRPr kumimoji="1"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これによって過学習気味になっている可能性がある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>
                <a:ea typeface="游ゴシック"/>
              </a:rPr>
              <a:t>同じ条件のサンプルが多く必要である</a:t>
            </a:r>
          </a:p>
          <a:p>
            <a:pPr marL="0" indent="0">
              <a:buNone/>
            </a:pPr>
            <a:r>
              <a:rPr lang="ja-JP" altLang="en-US" sz="3200" dirty="0">
                <a:ea typeface="游ゴシック"/>
              </a:rPr>
              <a:t>(</a:t>
            </a:r>
            <a:r>
              <a:rPr lang="ja-JP" sz="3200" dirty="0">
                <a:ea typeface="+mn-lt"/>
                <a:cs typeface="+mn-lt"/>
              </a:rPr>
              <a:t>The main cause is a lack of data.</a:t>
            </a:r>
            <a:endParaRPr lang="ja-JP" altLang="en-US" sz="3200" dirty="0">
              <a:ea typeface="游ゴシック"/>
            </a:endParaRPr>
          </a:p>
          <a:p>
            <a:pPr>
              <a:buNone/>
            </a:pPr>
            <a:r>
              <a:rPr lang="ja-JP" sz="3200" dirty="0">
                <a:ea typeface="+mn-lt"/>
                <a:cs typeface="+mn-lt"/>
              </a:rPr>
              <a:t>This may lead to overfitting.</a:t>
            </a:r>
            <a:endParaRPr lang="ja-JP" sz="2000" dirty="0"/>
          </a:p>
          <a:p>
            <a:pPr marL="0" indent="0">
              <a:buNone/>
            </a:pPr>
            <a:r>
              <a:rPr lang="ja-JP" sz="3200" dirty="0">
                <a:ea typeface="+mn-lt"/>
                <a:cs typeface="+mn-lt"/>
              </a:rPr>
              <a:t>Many samples under the same conditions are required.</a:t>
            </a:r>
            <a:r>
              <a:rPr lang="ja-JP" altLang="en-US" sz="3200" dirty="0">
                <a:ea typeface="游ゴシック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9943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468c9de-cd46-4da2-8652-b8ced6e8c1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A8781027FDCDD4FA707983317D1F1CA" ma:contentTypeVersion="13" ma:contentTypeDescription="新しいドキュメントを作成します。" ma:contentTypeScope="" ma:versionID="c66058970adc646e694115c1592518be">
  <xsd:schema xmlns:xsd="http://www.w3.org/2001/XMLSchema" xmlns:xs="http://www.w3.org/2001/XMLSchema" xmlns:p="http://schemas.microsoft.com/office/2006/metadata/properties" xmlns:ns3="0468c9de-cd46-4da2-8652-b8ced6e8c17c" xmlns:ns4="b315a314-b310-426b-9f44-434d22febbee" targetNamespace="http://schemas.microsoft.com/office/2006/metadata/properties" ma:root="true" ma:fieldsID="0c685a591f99f9949789f02fca614bd3" ns3:_="" ns4:_="">
    <xsd:import namespace="0468c9de-cd46-4da2-8652-b8ced6e8c17c"/>
    <xsd:import namespace="b315a314-b310-426b-9f44-434d22febbe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8c9de-cd46-4da2-8652-b8ced6e8c1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a314-b310-426b-9f44-434d22febbe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9FE740-0F2F-45A5-9A28-8633B26E78F0}">
  <ds:schemaRefs>
    <ds:schemaRef ds:uri="http://purl.org/dc/terms/"/>
    <ds:schemaRef ds:uri="http://schemas.microsoft.com/office/infopath/2007/PartnerControls"/>
    <ds:schemaRef ds:uri="0468c9de-cd46-4da2-8652-b8ced6e8c17c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b315a314-b310-426b-9f44-434d22febbee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B30F20F-B138-403F-9171-0E9A680A99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598F33-4B41-40BD-A335-B927194610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68c9de-cd46-4da2-8652-b8ced6e8c17c"/>
    <ds:schemaRef ds:uri="b315a314-b310-426b-9f44-434d22febb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fe835d-5e95-4512-8ae0-a7b38af25fc8}" enabled="0" method="" siteId="{72fe835d-5e95-4512-8ae0-a7b38af25fc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412</Words>
  <Application>Microsoft Office PowerPoint</Application>
  <PresentationFormat>ワイド画面</PresentationFormat>
  <Paragraphs>33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実測定データからのFET特性予測 FET characteristics prediction from actual measurement data</vt:lpstr>
      <vt:lpstr>背景(Background)</vt:lpstr>
      <vt:lpstr>目的(objective)</vt:lpstr>
      <vt:lpstr>手法(method)</vt:lpstr>
      <vt:lpstr>結果(results)</vt:lpstr>
      <vt:lpstr>結果(results)</vt:lpstr>
      <vt:lpstr>結果(results)</vt:lpstr>
      <vt:lpstr>考察(Considerations)</vt:lpstr>
      <vt:lpstr>結論(conclusion)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E21_井上虎祐_旭川</dc:creator>
  <cp:lastModifiedBy>E21_井上虎祐_旭川</cp:lastModifiedBy>
  <cp:revision>2</cp:revision>
  <dcterms:created xsi:type="dcterms:W3CDTF">2026-02-01T12:34:09Z</dcterms:created>
  <dcterms:modified xsi:type="dcterms:W3CDTF">2026-02-02T03:19:55Z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0x010100BA8781027FDCDD4FA707983317D1F1CA</vt:lpwstr>
  </property>
</Properties>
</file>